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a195efaf-293e-6767-b6d9-9efecc1662a8}">
          <p14:sldIdLst>
            <p14:sldId id="256"/>
            <p14:sldId id="257"/>
            <p14:sldId id="258"/>
            <p14:sldId id="259"/>
            <p14:sldId id="260"/>
          </p14:sldIdLst>
        </p14:section>
        <p14:section name="Fase 1 · Alineación y arquitectura" id="{f01f40ee-5b92-6697-6349-744fba495c17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Fase 2 · Alta fidelidad y entorno" id="{1c579f06-de55-90ff-7778-c78f11ad064b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Fase 3 · Handoff y desarrollo" id="{72ec0f6e-a358-60c0-9824-48738217566d}">
          <p14:sldIdLst>
            <p14:sldId id="278"/>
            <p14:sldId id="279"/>
            <p14:sldId id="280"/>
          </p14:sldIdLst>
        </p14:section>
        <p14:section name="Fase 4 · Pruebas y pre-despliegue" id="{eef41fda-01c4-f947-27ae-3677a4c219bb}">
          <p14:sldIdLst>
            <p14:sldId id="281"/>
            <p14:sldId id="282"/>
            <p14:sldId id="283"/>
          </p14:sldIdLst>
        </p14:section>
        <p14:section name="Fase 5 · Producción y monitoreo" id="{ea56b4f2-65b2-9c6f-7530-831657a3d9ea}">
          <p14:sldIdLst>
            <p14:sldId id="284"/>
            <p14:sldId id="285"/>
          </p14:sldIdLst>
        </p14:section>
        <p14:section name="Cierre" id="{f99967f8-13aa-13e9-cf90-ad8432e56bb2}">
          <p14:sldIdLst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B1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B16"/>
                </a:solidFill>
                <a:latin typeface="+mn-lt"/>
              </a:rPr>
              <a:t>Pruebas por grupo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Pruebas</c:v>
                </c:pt>
              </c:strCache>
            </c:strRef>
          </c:tx>
          <c:spPr>
            <a:solidFill>
              <a:srgbClr val="A67C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B1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Funciones de secretaria</c:v>
                  </c:pt>
                  <c:pt idx="1">
                    <c:v>Acceso por rol</c:v>
                  </c:pt>
                  <c:pt idx="2">
                    <c:v>Roles</c:v>
                  </c:pt>
                  <c:pt idx="3">
                    <c:v>Modelo Alumno</c:v>
                  </c:pt>
                  <c:pt idx="4">
                    <c:v>Captura</c:v>
                  </c:pt>
                  <c:pt idx="5">
                    <c:v>Modelo Evaluación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</c:v>
                </c:pt>
                <c:pt idx="1">
                  <c:v>9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1B1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B1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097280"/>
            <a:ext cx="3657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788920"/>
            <a:ext cx="1069848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1605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VIVA SOCCER · Segundo avance del proyecto final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VIVA SOCCER · Segundo avance del proyecto final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VIVA SOCCER · Segundo avance del proyecto final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Tecnológico Nacional de México – Instituto Tecnológico de Tijuana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Ingeniería en Tecnologías de la Información y Comunicaciones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SEGUNDO AVANCE DEL PROYECTO FINAL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830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VIVA SOCCER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97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bg1"/>
                </a:solidFill>
              </a:rPr>
              <a:t>Sistema de gestión de alumnos para escuela de fútbol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832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Materia: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Diseño y Evaluación de Interfaces de Usuario para Aplicaciones de Cómputo en la Nube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3434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DOCENTE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663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Miguel Ángel López Ramírez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43434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EQUIPO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466344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José Luis Bustillos Ortiz – 22212153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Ramón Eduardo Contreras Barajas – 22211205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Alan Antonio Jiménez Salazar – 22211208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43434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GRUPO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4663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Aula: 9306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Paquete: 08B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Horario: 17:00–18:00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Tijuana, B.C., octubre de 2026</a:t>
            </a:r>
            <a:endParaRPr lang="en-US" sz="1200" dirty="0"/>
          </a:p>
        </p:txBody>
      </p:sp>
      <p:sp>
        <p:nvSpPr>
          <p:cNvPr id="14" name="marco-Pantalla de captura en celular"/>
          <p:cNvSpPr/>
          <p:nvPr/>
        </p:nvSpPr>
        <p:spPr>
          <a:xfrm>
            <a:off x="9162288" y="581699"/>
            <a:ext cx="2660904" cy="569460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" name="Pantalla de captura en celular" descr="Pantalla de captura en celul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609131"/>
            <a:ext cx="2606040" cy="56397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Dos flujos en paralelo, cinco fases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Flujo de Diseño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(UX/UI)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Flujo Técnico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(Ingeniería y DevOps)</a:t>
            </a:r>
            <a:endParaRPr lang="en-US" sz="1300" dirty="0"/>
          </a:p>
        </p:txBody>
      </p:sp>
      <p:sp>
        <p:nvSpPr>
          <p:cNvPr id="5" name="fase-1"/>
          <p:cNvSpPr txBox="1"/>
          <p:nvPr/>
        </p:nvSpPr>
        <p:spPr>
          <a:xfrm>
            <a:off x="2331720" y="1280160"/>
            <a:ext cx="1828800" cy="10972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01</a:t>
            </a:r>
            <a:endParaRPr lang="en-US" sz="2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Alineación inicial y arquitectura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2514600"/>
            <a:ext cx="1828800" cy="15544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Personas, user flows, arquitectura de información, wireframes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4206240"/>
            <a:ext cx="1828800" cy="15544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Stack, nube y planeación de CDN</a:t>
            </a:r>
            <a:endParaRPr lang="en-US" sz="1150" dirty="0"/>
          </a:p>
        </p:txBody>
      </p:sp>
      <p:sp>
        <p:nvSpPr>
          <p:cNvPr id="8" name="fase-2"/>
          <p:cNvSpPr txBox="1"/>
          <p:nvPr/>
        </p:nvSpPr>
        <p:spPr>
          <a:xfrm>
            <a:off x="4187952" y="1280160"/>
            <a:ext cx="1828800" cy="10972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02</a:t>
            </a:r>
            <a:endParaRPr lang="en-US" sz="2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Alta fidelidad y entorno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187952" y="2514600"/>
            <a:ext cx="1828800" cy="15544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Design system y pantallas finales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187952" y="4206240"/>
            <a:ext cx="1828800" cy="15544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Repositorio y variables de entorno</a:t>
            </a:r>
            <a:endParaRPr lang="en-US" sz="1150" dirty="0"/>
          </a:p>
        </p:txBody>
      </p:sp>
      <p:sp>
        <p:nvSpPr>
          <p:cNvPr id="11" name="fase-3"/>
          <p:cNvSpPr txBox="1"/>
          <p:nvPr/>
        </p:nvSpPr>
        <p:spPr>
          <a:xfrm>
            <a:off x="6044184" y="1280160"/>
            <a:ext cx="1828800" cy="10972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03</a:t>
            </a:r>
            <a:endParaRPr lang="en-US" sz="2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Design handoff y desarrollo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044184" y="2514600"/>
            <a:ext cx="1828800" cy="15544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Assets y especificación técnica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044184" y="4206240"/>
            <a:ext cx="1828800" cy="15544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Componentes reutilizables y CI</a:t>
            </a:r>
            <a:endParaRPr lang="en-US" sz="1150" dirty="0"/>
          </a:p>
        </p:txBody>
      </p:sp>
      <p:sp>
        <p:nvSpPr>
          <p:cNvPr id="14" name="fase-4"/>
          <p:cNvSpPr txBox="1"/>
          <p:nvPr/>
        </p:nvSpPr>
        <p:spPr>
          <a:xfrm>
            <a:off x="7900416" y="1280160"/>
            <a:ext cx="1828800" cy="10972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04</a:t>
            </a:r>
            <a:endParaRPr lang="en-US" sz="2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Pruebas y pre-despliegue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900416" y="2514600"/>
            <a:ext cx="1828800" cy="15544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Design QA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900416" y="4206240"/>
            <a:ext cx="1828800" cy="15544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Staging, Lighthouse y E2E</a:t>
            </a:r>
            <a:endParaRPr lang="en-US" sz="1150" dirty="0"/>
          </a:p>
        </p:txBody>
      </p:sp>
      <p:sp>
        <p:nvSpPr>
          <p:cNvPr id="17" name="fase-5"/>
          <p:cNvSpPr txBox="1"/>
          <p:nvPr/>
        </p:nvSpPr>
        <p:spPr>
          <a:xfrm>
            <a:off x="9756648" y="1280160"/>
            <a:ext cx="1828800" cy="10972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05</a:t>
            </a:r>
            <a:endParaRPr lang="en-US" sz="2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Producción y monitoreo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756648" y="2514600"/>
            <a:ext cx="1828800" cy="15544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Analítica de uso e iteración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756648" y="4206240"/>
            <a:ext cx="1828800" cy="15544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CD a producción y monitoreo de errores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Cada fase separa los dos flujos. Lo que no existe en el repositorio se marca como Planeado o En proceso, con la herramienta propuesta.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VIVA SOCCER en una diapositiva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PROBLEMA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evaluación ocurre en la cancha, pero se anota en libretas y hojas de cálculo; la versión anterior (C# WinForms) solo vivía en la computadora de la oficina.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SOLUCIÓN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Aplicación web con una pantalla por rol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Captura de pase, recepción y tiro pensada para el celular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Histórico y progresión por alumno y por categoría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Boletas imprimibles para entregar a los tutores</a:t>
            </a:r>
            <a:endParaRPr lang="en-US" sz="1500" dirty="0"/>
          </a:p>
        </p:txBody>
      </p:sp>
      <p:sp>
        <p:nvSpPr>
          <p:cNvPr id="7" name="cifra-roles: administrador, secretaria y entrenador"/>
          <p:cNvSpPr/>
          <p:nvPr/>
        </p:nvSpPr>
        <p:spPr>
          <a:xfrm>
            <a:off x="7086600" y="1280160"/>
            <a:ext cx="45262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0" y="137160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823960" y="137160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roles: administrador, secretaria y entrenador</a:t>
            </a:r>
            <a:endParaRPr lang="en-US" sz="1400" dirty="0"/>
          </a:p>
        </p:txBody>
      </p:sp>
      <p:sp>
        <p:nvSpPr>
          <p:cNvPr id="10" name="cifra-pantallas y 3 formularios modales implementados"/>
          <p:cNvSpPr/>
          <p:nvPr/>
        </p:nvSpPr>
        <p:spPr>
          <a:xfrm>
            <a:off x="7086600" y="2834640"/>
            <a:ext cx="45262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0" y="292608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7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823960" y="292608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pantallas y 3 formularios modales implementados</a:t>
            </a:r>
            <a:endParaRPr lang="en-US" sz="1400" dirty="0"/>
          </a:p>
        </p:txBody>
      </p:sp>
      <p:sp>
        <p:nvSpPr>
          <p:cNvPr id="13" name="cifra-pruebas automatizadas en verde"/>
          <p:cNvSpPr/>
          <p:nvPr/>
        </p:nvSpPr>
        <p:spPr>
          <a:xfrm>
            <a:off x="7086600" y="4389120"/>
            <a:ext cx="45262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448056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34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8823960" y="448056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pruebas automatizadas en verde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Stack: lo propuesto contra lo que hay en el repositorio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4572000"/>
                <a:gridCol w="2103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Capa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Propuesta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En el repositorio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Estado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Backend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Django 5.2 · Python 3.12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Django 5.2.17 · Python 3.12.3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● Completo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Igual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Interactividad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HTMX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HTMX 2.0.4 servido desde /static, sin CDN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● Completo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Igual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Estilos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Tailwind CSS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Tailwind 3.4.17 con binario standalone: sin Node ni package.json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● En proceso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Cambió la herramienta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Gráficas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Chart.js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Chart.js 4.4.1 local; paleta.js replica los tokens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● Completo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Igual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Base de datos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PostgreSQL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SQLite en desarrollo; PostgreSQL aún sin configurar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● Pendiente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Falta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Servidor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Gunicorn + WhiteNoise para producción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● Completo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Agregado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Nube y CDN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Servicio con PostgreSQL y HTTPS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Sin proveedor configurado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● Planeado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Falta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Por qué cambió: el binario de Tailwind evita un build de JavaScript, y HTMX y Chart.js se sirven locales porque en la cancha la señal es irregular.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Estado general por fase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329184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Fase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Diseño (UX/UI)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Despliegue técnico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Global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1 · Alineación inicial y arquitectura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● En proceso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Personas, casos de uso, mapa del sitio, flujo y heurísticas; faltan mapa de empatía y wireframes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● En proceso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Stack definido; faltan nube y CDN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● En proceso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2 · Alta fidelidad y entorno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● Completo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Design system y 7 pantallas en design.html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● En proceso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GitHub y variables de entorno; faltan .env.example y DATABASE_URL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● Casi completa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3 · Design handoff y desarrollo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● Completo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Tokens en tailwind.config.js y especificación en la sección 08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● En proceso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Componentes reutilizables; falta el pipeline de CI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● En proceso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4 · Pruebas y pre-despliegue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● Planeado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Design QA por realizar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● En proceso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34 pruebas; faltan staging, Lighthouse y E2E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● Pendiente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5 · Producción y monitoreo</a:t>
                      </a:r>
                      <a:endParaRPr lang="en-US" sz="11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● Planeado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Analítica e iteración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● Planeado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Hay base para producción; faltan CD y Sentry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● Pendiente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● Completo  </a:t>
            </a:r>
            <a:pPr indent="0" marL="0">
              <a:buNone/>
            </a:pPr>
            <a:r>
              <a:rPr lang="en-US" sz="1150" b="1" dirty="0">
                <a:solidFill>
                  <a:schemeClr val="accent3"/>
                </a:solidFill>
              </a:rPr>
              <a:t>● En proceso  </a:t>
            </a:r>
            <a:pPr indent="0" marL="0">
              <a:buNone/>
            </a:pPr>
            <a:r>
              <a:rPr lang="en-US" sz="1150" b="1" dirty="0">
                <a:solidFill>
                  <a:schemeClr val="accent4"/>
                </a:solidFill>
              </a:rPr>
              <a:t>● Planeado / Pendiente  </a:t>
            </a:r>
            <a:pPr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— corte al 14 de octubre de 2026 (semana 4 del cronograma)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0972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</a:rPr>
              <a:t>01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78892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Alineación inicial y arquitectura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1605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UX/UI: personas, casos de uso, mapa del sitio y flujos.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Técnico: stack, proveedor de nube y planeación de CDN.</a:t>
            </a:r>
            <a:endParaRPr lang="en-US" sz="1600" dirty="0"/>
          </a:p>
        </p:txBody>
      </p:sp>
      <p:sp>
        <p:nvSpPr>
          <p:cNvPr id="5" name="estado-En proceso"/>
          <p:cNvSpPr txBox="1"/>
          <p:nvPr/>
        </p:nvSpPr>
        <p:spPr>
          <a:xfrm>
            <a:off x="731520" y="5440680"/>
            <a:ext cx="146304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EN PROCESO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Fase 1 · Alineación inicial y arquitectura</a:t>
            </a:r>
            <a:endParaRPr lang="en-US" sz="2800" dirty="0"/>
          </a:p>
        </p:txBody>
      </p:sp>
      <p:sp>
        <p:nvSpPr>
          <p:cNvPr id="3" name="tarjeta-FLUJO DE DISEÑO"/>
          <p:cNvSpPr/>
          <p:nvPr/>
        </p:nvSpPr>
        <p:spPr>
          <a:xfrm>
            <a:off x="548640" y="1234440"/>
            <a:ext cx="5440680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4630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FLUJO DE DISEÑO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737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UX/UI</a:t>
            </a:r>
            <a:endParaRPr lang="en-US" sz="1900" dirty="0"/>
          </a:p>
        </p:txBody>
      </p:sp>
      <p:sp>
        <p:nvSpPr>
          <p:cNvPr id="6" name="estado-Completo"/>
          <p:cNvSpPr txBox="1"/>
          <p:nvPr/>
        </p:nvSpPr>
        <p:spPr>
          <a:xfrm>
            <a:off x="868680" y="2377440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COMPLETO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229514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Tres proto-personas: coordinadora, entrenador y madre de familia (Propuesta §2.1)</a:t>
            </a:r>
            <a:endParaRPr lang="en-US" sz="1250" dirty="0"/>
          </a:p>
        </p:txBody>
      </p:sp>
      <p:sp>
        <p:nvSpPr>
          <p:cNvPr id="8" name="estado-Completo"/>
          <p:cNvSpPr txBox="1"/>
          <p:nvPr/>
        </p:nvSpPr>
        <p:spPr>
          <a:xfrm>
            <a:off x="868680" y="3136392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COMPLETO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3054096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Seis casos de uso (CU-01 a CU-06) y once requerimientos priorizados con MoSCoW</a:t>
            </a:r>
            <a:endParaRPr lang="en-US" sz="1250" dirty="0"/>
          </a:p>
        </p:txBody>
      </p:sp>
      <p:sp>
        <p:nvSpPr>
          <p:cNvPr id="10" name="estado-Completo"/>
          <p:cNvSpPr txBox="1"/>
          <p:nvPr/>
        </p:nvSpPr>
        <p:spPr>
          <a:xfrm>
            <a:off x="868680" y="3895344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COMPLETO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381304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Mapa del sitio por rol y flujo de captura del entrenador (Figuras 1 y 2)</a:t>
            </a:r>
            <a:endParaRPr lang="en-US" sz="1250" dirty="0"/>
          </a:p>
        </p:txBody>
      </p:sp>
      <p:sp>
        <p:nvSpPr>
          <p:cNvPr id="12" name="estado-Completo"/>
          <p:cNvSpPr txBox="1"/>
          <p:nvPr/>
        </p:nvSpPr>
        <p:spPr>
          <a:xfrm>
            <a:off x="868680" y="4654296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COMPLETO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45720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Heurísticas de Nielsen traducidas a criterios propios de VIVA SOCCER</a:t>
            </a:r>
            <a:endParaRPr lang="en-US" sz="1250" dirty="0"/>
          </a:p>
        </p:txBody>
      </p:sp>
      <p:sp>
        <p:nvSpPr>
          <p:cNvPr id="14" name="estado-Planeado"/>
          <p:cNvSpPr txBox="1"/>
          <p:nvPr/>
        </p:nvSpPr>
        <p:spPr>
          <a:xfrm>
            <a:off x="868680" y="5413248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PLANEADO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533095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Mapa de empatía en FigJam y wireframes de baja fidelidad en Figma (S4–S5)</a:t>
            </a:r>
            <a:endParaRPr lang="en-US" sz="1250" dirty="0"/>
          </a:p>
        </p:txBody>
      </p:sp>
      <p:sp>
        <p:nvSpPr>
          <p:cNvPr id="16" name="tarjeta-FLUJO DE DESPLIEGUE TÉCNICO"/>
          <p:cNvSpPr/>
          <p:nvPr/>
        </p:nvSpPr>
        <p:spPr>
          <a:xfrm>
            <a:off x="6199632" y="1234440"/>
            <a:ext cx="5440680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19672" y="14630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FLUJO DE DESPLIEGUE TÉCNICO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19672" y="1737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Ingeniería y DevOps</a:t>
            </a:r>
            <a:endParaRPr lang="en-US" sz="1900" dirty="0"/>
          </a:p>
        </p:txBody>
      </p:sp>
      <p:sp>
        <p:nvSpPr>
          <p:cNvPr id="19" name="estado-Completo"/>
          <p:cNvSpPr txBox="1"/>
          <p:nvPr/>
        </p:nvSpPr>
        <p:spPr>
          <a:xfrm>
            <a:off x="6519672" y="2377440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COMPLETO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7799832" y="229514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Frontend: plantillas Django + HTMX + Tailwind; sin SPA ni build de JavaScript</a:t>
            </a:r>
            <a:endParaRPr lang="en-US" sz="1250" dirty="0"/>
          </a:p>
        </p:txBody>
      </p:sp>
      <p:sp>
        <p:nvSpPr>
          <p:cNvPr id="21" name="estado-Completo"/>
          <p:cNvSpPr txBox="1"/>
          <p:nvPr/>
        </p:nvSpPr>
        <p:spPr>
          <a:xfrm>
            <a:off x="6519672" y="3136392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COMPLETO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7799832" y="3054096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Backend: Django 5.2 y Python 3.12, con roles por grupos de usuarios</a:t>
            </a:r>
            <a:endParaRPr lang="en-US" sz="1250" dirty="0"/>
          </a:p>
        </p:txBody>
      </p:sp>
      <p:sp>
        <p:nvSpPr>
          <p:cNvPr id="23" name="estado-Pendiente"/>
          <p:cNvSpPr txBox="1"/>
          <p:nvPr/>
        </p:nvSpPr>
        <p:spPr>
          <a:xfrm>
            <a:off x="6519672" y="3895344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PENDIENTE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7799832" y="381304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Base de datos: PostgreSQL administrado (hoy solo SQLite)</a:t>
            </a:r>
            <a:endParaRPr lang="en-US" sz="1250" dirty="0"/>
          </a:p>
        </p:txBody>
      </p:sp>
      <p:sp>
        <p:nvSpPr>
          <p:cNvPr id="25" name="estado-Planeado"/>
          <p:cNvSpPr txBox="1"/>
          <p:nvPr/>
        </p:nvSpPr>
        <p:spPr>
          <a:xfrm>
            <a:off x="6519672" y="4654296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PLANEADO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7799832" y="45720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Nube: Render (web + PostgreSQL + HTTPS); Railway como alternativa</a:t>
            </a:r>
            <a:endParaRPr lang="en-US" sz="1250" dirty="0"/>
          </a:p>
        </p:txBody>
      </p:sp>
      <p:sp>
        <p:nvSpPr>
          <p:cNvPr id="27" name="estado-Planeado"/>
          <p:cNvSpPr txBox="1"/>
          <p:nvPr/>
        </p:nvSpPr>
        <p:spPr>
          <a:xfrm>
            <a:off x="6519672" y="5413248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PLANEADO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7799832" y="533095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CDN: Cloudflare frente al dominio; WhiteNoise ya comprime y cachea estáticos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Evidencia UX: tres personas, una por rol</a:t>
            </a:r>
            <a:endParaRPr lang="en-US" sz="2800" dirty="0"/>
          </a:p>
        </p:txBody>
      </p:sp>
      <p:sp>
        <p:nvSpPr>
          <p:cNvPr id="3" name="persona-1"/>
          <p:cNvSpPr/>
          <p:nvPr/>
        </p:nvSpPr>
        <p:spPr>
          <a:xfrm>
            <a:off x="548640" y="1234440"/>
            <a:ext cx="3520440" cy="45720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Laura Méndez, 41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Coordinadora administrativa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Contexto: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Escritorio, con interrupciones de padres que llegan a inscribir.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Necesita: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Padrón al día, indicadores por categoría y teléfonos bien capturados.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4805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“Necesito abrir algo y ver cómo vamos, no armar un Excel cada fin de mes.”</a:t>
            </a:r>
            <a:endParaRPr lang="en-US" sz="1400" dirty="0"/>
          </a:p>
        </p:txBody>
      </p:sp>
      <p:sp>
        <p:nvSpPr>
          <p:cNvPr id="8" name="persona-2"/>
          <p:cNvSpPr/>
          <p:nvPr/>
        </p:nvSpPr>
        <p:spPr>
          <a:xfrm>
            <a:off x="4320540" y="1234440"/>
            <a:ext cx="3520440" cy="45720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4860" y="1417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Antonio “Toño” Ramírez, 27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94860" y="18288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Entrenador Sub-8 y Sub-10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94860" y="228600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Contexto: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Cancha al aire libre, sol directo, prisa y una mano ocupada.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Necesita: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Ver solo su grupo y calificar rápido con el pulgar, sin perder datos.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94860" y="44805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“Si me toma más de lo que dura un ejercicio, mejor lo apunto en la libreta.”</a:t>
            </a:r>
            <a:endParaRPr lang="en-US" sz="1400" dirty="0"/>
          </a:p>
        </p:txBody>
      </p:sp>
      <p:sp>
        <p:nvSpPr>
          <p:cNvPr id="13" name="persona-3"/>
          <p:cNvSpPr/>
          <p:nvPr/>
        </p:nvSpPr>
        <p:spPr>
          <a:xfrm>
            <a:off x="8092440" y="1234440"/>
            <a:ext cx="3520440" cy="45720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66760" y="1417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Claudia Torres, 36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18288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Madre de un alumno Sub-10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28600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Contexto: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Ratos cortos en el celular: transporte o descanso.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Necesita: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Saber en qué mejora su hijo, sin lenguaje técnico.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44805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“Me dicen que va bien, pero quisiera verlo con algo más que un ‘échale ganas’.”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Fuente: Propuesta de Proyecto Final, §2.1. Son proto-personas que se validan con entrevistas breves.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Evidencia UX: arquitectura de la información por rol</a:t>
            </a:r>
            <a:endParaRPr lang="en-US" sz="2800" dirty="0"/>
          </a:p>
        </p:txBody>
      </p:sp>
      <p:sp>
        <p:nvSpPr>
          <p:cNvPr id="3" name="marco-Mapa del sitio por rol"/>
          <p:cNvSpPr/>
          <p:nvPr/>
        </p:nvSpPr>
        <p:spPr>
          <a:xfrm>
            <a:off x="521208" y="1220463"/>
            <a:ext cx="7004304" cy="4462795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Mapa del sitio por rol" descr="Mapa del sitio por r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7895"/>
            <a:ext cx="6949440" cy="440793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7607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Figura 1 de la propuesta: mapa del sitio por rol.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7909560" y="13258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LO QUE CAMBIÓ AL IMPLEMENTAR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1691640"/>
            <a:ext cx="3703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Cada rol entra directo a su pantalla, como se diseñó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Nuevo rol Secretaria: padrón, tutores, corrección de calificaciones y boletas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Tutor como registro propio: los hermanos comparten tutor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Portal de Familia (RF-09) y cuentas desde la UI (RF-11): sin empezar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Evidencia UX: flujo de captura del entrenador</a:t>
            </a:r>
            <a:endParaRPr lang="en-US" sz="2800" dirty="0"/>
          </a:p>
        </p:txBody>
      </p:sp>
      <p:sp>
        <p:nvSpPr>
          <p:cNvPr id="3" name="marco-Flujo de captura"/>
          <p:cNvSpPr/>
          <p:nvPr/>
        </p:nvSpPr>
        <p:spPr>
          <a:xfrm>
            <a:off x="1768058" y="1207008"/>
            <a:ext cx="8625405" cy="334670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Flujo de captura" descr="Flujo de capt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490" y="1234440"/>
            <a:ext cx="8570541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617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Figura 2 de la propuesta: flujo de captura con manejo de la conexión.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074920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Implementado: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elegir grupo y fecha, lista del grupo, guardado en bloque y una sola evaluación por alumno y fecha.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199632" y="5074920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Pendiente: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rama sin conexión (RF-06), con un Service Worker y una cola en IndexedDB, sin agregar un build de JS.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Evidencia UX: heurísticas de Nielsen aplicadas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931920"/>
                <a:gridCol w="42976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Heurística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Qué revisaremos (propuesta)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Qué hay hoy en la app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1. Visibilidad del estado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Confirmación al guardar; indicador de pendientes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Mensajes de guardado y barra de avance en captura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2. Mundo real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Vocabulario de la escuela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Categorías, horarios, pase, recepción y tiro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3. Control y libertad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Corregir sin salir de la lista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Reenviar la captura actualiza; la ficha permite editar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4. Consistencia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Mismos componentes en web y móvil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Tokens únicos en tailwind.config.js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5. Prevención de errores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Una evaluación por fecha; teléfono validado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Restricción en la base de datos y validación del formato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6. Reconocer antes que recordar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Folio e iniciales visibles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Folio VS-0000 en padrón, ficha y captura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7. Flexibilidad y eficiencia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Avance al siguiente pendiente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</a:rPr>
                        <a:t>Pendiente: hoy se guarda el grupo en bloque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8. Estética minimalista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Solo lo necesario para calificar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Captura con tres campos por alumno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9. Recuperarse de errores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Mensajes claros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Errores por campo en español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10. Ayuda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Indicaciones en el portal de familias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</a:rPr>
                        <a:t>Pendiente con el portal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Alcance: requerimientos de la propuesta contra el repositorio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206240"/>
                <a:gridCol w="1188720"/>
                <a:gridCol w="47548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Requerimiento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Prioridad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Estado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RF-01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Inicio de sesión y redirección por rol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Must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2"/>
                          </a:solidFill>
                        </a:rPr>
                        <a:t>● Completo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RF-02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Alta y edición de alumnos con tutor y folio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Must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2"/>
                          </a:solidFill>
                        </a:rPr>
                        <a:t>● Completo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RF-03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Padrón con búsqueda y filtros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Must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● En proceso ·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Falta buscar por folio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RF-04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Captura de pase, recepción y tiro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Must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2"/>
                          </a:solidFill>
                        </a:rPr>
                        <a:t>● Completo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RF-05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Una evaluación por alumno y fecha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Must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2"/>
                          </a:solidFill>
                        </a:rPr>
                        <a:t>● Completo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RF-06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Captura sin conexión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Should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4"/>
                          </a:solidFill>
                        </a:rPr>
                        <a:t>● Pendiente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RF-07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Indicadores del panel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Must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● En proceso ·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Faltan grupos sin evaluar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RF-08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Ficha con historial y gráfica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Must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2"/>
                          </a:solidFill>
                        </a:rPr>
                        <a:t>● Completo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RF-09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Portal para familias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Should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4"/>
                          </a:solidFill>
                        </a:rPr>
                        <a:t>● Pendiente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RF-10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Reportes PDF y CSV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Should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● En proceso ·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Boletas imprimibles; falta CSV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RF-11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Gestión de cuentas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Could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● En proceso ·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Solo desde el Django admin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6 de 8 requerimientos Must completos; los dos restantes, en proceso.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0972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</a:rPr>
              <a:t>02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78892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Diseño de alta fidelidad y configuración del entorno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1605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UX/UI: design system y pantallas finales en alta fidelidad.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Técnico: repositorio en GitHub y variables de entorno.</a:t>
            </a:r>
            <a:endParaRPr lang="en-US" sz="1600" dirty="0"/>
          </a:p>
        </p:txBody>
      </p:sp>
      <p:sp>
        <p:nvSpPr>
          <p:cNvPr id="5" name="estado-Casi completa"/>
          <p:cNvSpPr txBox="1"/>
          <p:nvPr/>
        </p:nvSpPr>
        <p:spPr>
          <a:xfrm>
            <a:off x="731520" y="5440680"/>
            <a:ext cx="146304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CASI COMPLETA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Fase 2 · Alta fidelidad y configuración del entorno</a:t>
            </a:r>
            <a:endParaRPr lang="en-US" sz="2800" dirty="0"/>
          </a:p>
        </p:txBody>
      </p:sp>
      <p:sp>
        <p:nvSpPr>
          <p:cNvPr id="3" name="tarjeta-FLUJO DE DISEÑO"/>
          <p:cNvSpPr/>
          <p:nvPr/>
        </p:nvSpPr>
        <p:spPr>
          <a:xfrm>
            <a:off x="548640" y="1234440"/>
            <a:ext cx="5440680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4630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FLUJO DE DISEÑO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737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UX/UI</a:t>
            </a:r>
            <a:endParaRPr lang="en-US" sz="1900" dirty="0"/>
          </a:p>
        </p:txBody>
      </p:sp>
      <p:sp>
        <p:nvSpPr>
          <p:cNvPr id="6" name="estado-Completo"/>
          <p:cNvSpPr txBox="1"/>
          <p:nvPr/>
        </p:nvSpPr>
        <p:spPr>
          <a:xfrm>
            <a:off x="868680" y="2377440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COMPLETO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229514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Design system en design/design.html: 9 colores, 3 familias tipográficas, espaciado y radios</a:t>
            </a:r>
            <a:endParaRPr lang="en-US" sz="1250" dirty="0"/>
          </a:p>
        </p:txBody>
      </p:sp>
      <p:sp>
        <p:nvSpPr>
          <p:cNvPr id="8" name="estado-Completo"/>
          <p:cNvSpPr txBox="1"/>
          <p:nvPr/>
        </p:nvSpPr>
        <p:spPr>
          <a:xfrm>
            <a:off x="868680" y="3136392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COMPLETO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3054096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Componentes: botón primario y fantasma, campos, chips, tarjetas y campo de calificación</a:t>
            </a:r>
            <a:endParaRPr lang="en-US" sz="1250" dirty="0"/>
          </a:p>
        </p:txBody>
      </p:sp>
      <p:sp>
        <p:nvSpPr>
          <p:cNvPr id="10" name="estado-Completo"/>
          <p:cNvSpPr txBox="1"/>
          <p:nvPr/>
        </p:nvSpPr>
        <p:spPr>
          <a:xfrm>
            <a:off x="868680" y="3895344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COMPLETO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381304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Alta fidelidad: marca, login, panel, padrón, formulario, captura y ficha</a:t>
            </a:r>
            <a:endParaRPr lang="en-US" sz="1250" dirty="0"/>
          </a:p>
        </p:txBody>
      </p:sp>
      <p:sp>
        <p:nvSpPr>
          <p:cNvPr id="12" name="estado-En proceso"/>
          <p:cNvSpPr txBox="1"/>
          <p:nvPr/>
        </p:nvSpPr>
        <p:spPr>
          <a:xfrm>
            <a:off x="868680" y="4654296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EN PROCESO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45720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Tutores y boleta se implementaron sin maqueta; falta llevarlas a design.html</a:t>
            </a:r>
            <a:endParaRPr lang="en-US" sz="1250" dirty="0"/>
          </a:p>
        </p:txBody>
      </p:sp>
      <p:sp>
        <p:nvSpPr>
          <p:cNvPr id="14" name="tarjeta-FLUJO DE DESPLIEGUE TÉCNICO"/>
          <p:cNvSpPr/>
          <p:nvPr/>
        </p:nvSpPr>
        <p:spPr>
          <a:xfrm>
            <a:off x="6199632" y="1234440"/>
            <a:ext cx="5440680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19672" y="14630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FLUJO DE DESPLIEGUE TÉCNICO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1737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Ingeniería y DevOps</a:t>
            </a:r>
            <a:endParaRPr lang="en-US" sz="1900" dirty="0"/>
          </a:p>
        </p:txBody>
      </p:sp>
      <p:sp>
        <p:nvSpPr>
          <p:cNvPr id="17" name="estado-Completo"/>
          <p:cNvSpPr txBox="1"/>
          <p:nvPr/>
        </p:nvSpPr>
        <p:spPr>
          <a:xfrm>
            <a:off x="6519672" y="2377440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COMPLETO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799832" y="229514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Repositorio en GitHub: joseluis-buo/viva_soccer, rama main, 7 commits</a:t>
            </a:r>
            <a:endParaRPr lang="en-US" sz="1250" dirty="0"/>
          </a:p>
        </p:txBody>
      </p:sp>
      <p:sp>
        <p:nvSpPr>
          <p:cNvPr id="19" name="estado-Completo"/>
          <p:cNvSpPr txBox="1"/>
          <p:nvPr/>
        </p:nvSpPr>
        <p:spPr>
          <a:xfrm>
            <a:off x="6519672" y="3136392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COMPLETO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7799832" y="3054096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Variables de entorno DJANGO_*: clave secreta, DEBUG, hosts y orígenes CSRF</a:t>
            </a:r>
            <a:endParaRPr lang="en-US" sz="1250" dirty="0"/>
          </a:p>
        </p:txBody>
      </p:sp>
      <p:sp>
        <p:nvSpPr>
          <p:cNvPr id="21" name="estado-Completo"/>
          <p:cNvSpPr txBox="1"/>
          <p:nvPr/>
        </p:nvSpPr>
        <p:spPr>
          <a:xfrm>
            <a:off x="6519672" y="3895344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COMPLETO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7799832" y="381304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.env fuera de git; con DEBUG apagado la app exige la clave secreta</a:t>
            </a:r>
            <a:endParaRPr lang="en-US" sz="1250" dirty="0"/>
          </a:p>
        </p:txBody>
      </p:sp>
      <p:sp>
        <p:nvSpPr>
          <p:cNvPr id="23" name="estado-Planeado"/>
          <p:cNvSpPr txBox="1"/>
          <p:nvPr/>
        </p:nvSpPr>
        <p:spPr>
          <a:xfrm>
            <a:off x="6519672" y="4654296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PLANEADO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7799832" y="45720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.env.example y DATABASE_URL (dj-database-url + psycopg) para PostgreSQL</a:t>
            </a:r>
            <a:endParaRPr lang="en-US" sz="1250" dirty="0"/>
          </a:p>
        </p:txBody>
      </p:sp>
      <p:sp>
        <p:nvSpPr>
          <p:cNvPr id="25" name="estado-Planeado"/>
          <p:cNvSpPr txBox="1"/>
          <p:nvPr/>
        </p:nvSpPr>
        <p:spPr>
          <a:xfrm>
            <a:off x="6519672" y="5413248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PLANEADO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7799832" y="533095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URL de pruebas: entorno de staging en Render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Design system: los tokens de design.html</a:t>
            </a:r>
            <a:endParaRPr lang="en-US" sz="2800" dirty="0"/>
          </a:p>
        </p:txBody>
      </p:sp>
      <p:sp>
        <p:nvSpPr>
          <p:cNvPr id="3" name="marco-Tokens de diseño"/>
          <p:cNvSpPr/>
          <p:nvPr/>
        </p:nvSpPr>
        <p:spPr>
          <a:xfrm>
            <a:off x="521208" y="1274617"/>
            <a:ext cx="5449824" cy="4857405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Tokens de diseño" descr="Tokens de diseñ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2049"/>
            <a:ext cx="5394960" cy="480254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55080" y="13258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DECISIONES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1691640"/>
            <a:ext cx="5257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Fondo oscuro y neón para leer al sol: texto principal a 14.6:1 y secundario a 6.4:1 (WCAG AA)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neón se reserva para la acción principal y las cifras clave: máximo tres por pantalla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Barlow Condensed para títulos y calificaciones, Barlow para datos e IBM Plex Mono para folios y fechas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Alturas táctiles: campos de 44 px, calificación en captura de 56 px y botón primario de 52 px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Pantalla final: inicio de sesión</a:t>
            </a:r>
            <a:endParaRPr lang="en-US" sz="2800" dirty="0"/>
          </a:p>
        </p:txBody>
      </p:sp>
      <p:sp>
        <p:nvSpPr>
          <p:cNvPr id="3" name="marco-Pantalla final: inicio de sesión"/>
          <p:cNvSpPr/>
          <p:nvPr/>
        </p:nvSpPr>
        <p:spPr>
          <a:xfrm>
            <a:off x="521208" y="1210957"/>
            <a:ext cx="8010144" cy="4527525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Pantalla final: inicio de sesión" descr="Pantalla final: inicio de ses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8389"/>
            <a:ext cx="7955280" cy="447266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915400" y="13258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ROL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915400" y="1600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Todos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915400" y="21945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DECISIÓN DE DISEÑO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915400" y="2468880"/>
            <a:ext cx="2697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Un solo formulario para todos; tras entrar, cada rol cae directo en su pantalla (RF-01). El neón solo aparece en el botón ENTRAR.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Pantalla final: panel del administrador</a:t>
            </a:r>
            <a:endParaRPr lang="en-US" sz="2800" dirty="0"/>
          </a:p>
        </p:txBody>
      </p:sp>
      <p:sp>
        <p:nvSpPr>
          <p:cNvPr id="3" name="marco-Pantalla final: panel del administrador"/>
          <p:cNvSpPr/>
          <p:nvPr/>
        </p:nvSpPr>
        <p:spPr>
          <a:xfrm>
            <a:off x="521208" y="1210957"/>
            <a:ext cx="8010144" cy="4527525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Pantalla final: panel del administrador" descr="Pantalla final: panel del administr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8389"/>
            <a:ext cx="7955280" cy="447266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915400" y="13258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ROL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915400" y="1600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Administrador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915400" y="21945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DECISIÓN DE DISEÑO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915400" y="2468880"/>
            <a:ext cx="2697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Las cuatro cifras de la temporada arriba y, debajo, el promedio por habilidad y categoría. La gráfica usa los mismos tokens que la interfaz.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Pantalla final: padrón de alumnos</a:t>
            </a:r>
            <a:endParaRPr lang="en-US" sz="2800" dirty="0"/>
          </a:p>
        </p:txBody>
      </p:sp>
      <p:sp>
        <p:nvSpPr>
          <p:cNvPr id="3" name="marco-Pantalla final: padrón de alumnos"/>
          <p:cNvSpPr/>
          <p:nvPr/>
        </p:nvSpPr>
        <p:spPr>
          <a:xfrm>
            <a:off x="521208" y="1210957"/>
            <a:ext cx="8010144" cy="4527525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Pantalla final: padrón de alumnos" descr="Pantalla final: padrón de alumn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8389"/>
            <a:ext cx="7955280" cy="447266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915400" y="13258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ROL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915400" y="1600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Secretaria y administrador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915400" y="21945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DECISIÓN DE DISEÑO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915400" y="2468880"/>
            <a:ext cx="2697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La tabla y el detalle conviven: un clic en la fila carga el panel lateral con HTMX sin salir de la lista. Los chips filtran por grupo.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Pantalla final: alta y edición de alumno</a:t>
            </a:r>
            <a:endParaRPr lang="en-US" sz="2800" dirty="0"/>
          </a:p>
        </p:txBody>
      </p:sp>
      <p:sp>
        <p:nvSpPr>
          <p:cNvPr id="3" name="marco-Alta: si el tutor es nuevo, se captura en el mismo formulario."/>
          <p:cNvSpPr/>
          <p:nvPr/>
        </p:nvSpPr>
        <p:spPr>
          <a:xfrm>
            <a:off x="521208" y="1163464"/>
            <a:ext cx="5495544" cy="3113753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Alta: si el tutor es nuevo, se captura en el mismo formulario." descr="Alta: si el tutor es nuevo, se captura en el mismo formulari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90896"/>
            <a:ext cx="5440680" cy="3058889"/>
          </a:xfrm>
          <a:prstGeom prst="rect">
            <a:avLst/>
          </a:prstGeom>
        </p:spPr>
      </p:pic>
      <p:sp>
        <p:nvSpPr>
          <p:cNvPr id="5" name="marco-Edición: se elige un tutor ya registrado."/>
          <p:cNvSpPr/>
          <p:nvPr/>
        </p:nvSpPr>
        <p:spPr>
          <a:xfrm>
            <a:off x="6172200" y="1163464"/>
            <a:ext cx="5495544" cy="3113753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6" name="Edición: se elige un tutor ya registrado." descr="Edición: se elige un tutor ya registrado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190896"/>
            <a:ext cx="5440680" cy="305888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343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Alta: si el tutor es nuevo, se captura en el mismo formulario.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6199632" y="4343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Edición: se elige un tutor ya registrado.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892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DECISIÓN DE DISEÑO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1663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modal sobre el padrón conserva el contexto. Un hermano reutiliza al tutor ya registrado, y el teléfono se valida con el formato 55 1234 5678.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Pantalla final: captura de calificaciones en el celular</a:t>
            </a:r>
            <a:endParaRPr lang="en-US" sz="2800" dirty="0"/>
          </a:p>
        </p:txBody>
      </p:sp>
      <p:sp>
        <p:nvSpPr>
          <p:cNvPr id="3" name="marco-Captura vacía"/>
          <p:cNvSpPr/>
          <p:nvPr/>
        </p:nvSpPr>
        <p:spPr>
          <a:xfrm>
            <a:off x="547968" y="1161288"/>
            <a:ext cx="2378783" cy="508406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Captura vacía" descr="Captura vací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400" y="1188720"/>
            <a:ext cx="2323919" cy="5029200"/>
          </a:xfrm>
          <a:prstGeom prst="rect">
            <a:avLst/>
          </a:prstGeom>
        </p:spPr>
      </p:pic>
      <p:sp>
        <p:nvSpPr>
          <p:cNvPr id="5" name="marco-Captura con calificaciones"/>
          <p:cNvSpPr/>
          <p:nvPr/>
        </p:nvSpPr>
        <p:spPr>
          <a:xfrm>
            <a:off x="3245448" y="1161288"/>
            <a:ext cx="2378783" cy="508406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6" name="Captura con calificaciones" descr="Captura con calificaci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880" y="1188720"/>
            <a:ext cx="2323919" cy="5029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63640" y="132588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ROL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6263640" y="160020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Entrenador (mobile-first, 390 px)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263640" y="219456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DECISIÓN DE DISEÑO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6263640" y="2468880"/>
            <a:ext cx="5349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263640" y="2468880"/>
            <a:ext cx="5349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Una tarjeta por alumno con pase, recepción y tiro: sin navegar entre pantallas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Campos numéricos de 56 px: más que el mínimo de 44 px para el pulgar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Botón de guardado fijo abajo y barra de avance del grupo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Reenviar la captura actualiza la evaluación en lugar de duplicarla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Rol secretaria: ficha del alumno y corrección de calificaciones</a:t>
            </a:r>
            <a:endParaRPr lang="en-US" sz="2800" dirty="0"/>
          </a:p>
        </p:txBody>
      </p:sp>
      <p:sp>
        <p:nvSpPr>
          <p:cNvPr id="3" name="marco-Ficha: imprimir boleta, editar, dar de baja y editar evaluaciones."/>
          <p:cNvSpPr/>
          <p:nvPr/>
        </p:nvSpPr>
        <p:spPr>
          <a:xfrm>
            <a:off x="521208" y="1163464"/>
            <a:ext cx="5495544" cy="3113753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Ficha: imprimir boleta, editar, dar de baja y editar evaluaciones." descr="Ficha: imprimir boleta, editar, dar de baja y editar evaluacion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90896"/>
            <a:ext cx="5440680" cy="3058889"/>
          </a:xfrm>
          <a:prstGeom prst="rect">
            <a:avLst/>
          </a:prstGeom>
        </p:spPr>
      </p:pic>
      <p:sp>
        <p:nvSpPr>
          <p:cNvPr id="5" name="marco-Corrección de una evaluación en un modal."/>
          <p:cNvSpPr/>
          <p:nvPr/>
        </p:nvSpPr>
        <p:spPr>
          <a:xfrm>
            <a:off x="6172200" y="1163464"/>
            <a:ext cx="5495544" cy="3113753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6" name="Corrección de una evaluación en un modal." descr="Corrección de una evaluación en un modal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190896"/>
            <a:ext cx="5440680" cy="305888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343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Ficha: imprimir boleta, editar, dar de baja y editar evaluaciones.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6199632" y="4343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Corrección de una evaluación en un modal.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892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DECISIÓN DE DISEÑO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1663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Las acciones de oficina viven en la ficha, donde la secretaria ya tiene el contexto. La baja conserva el histórico y no permite dos evaluaciones en la misma fecha.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Rol secretaria: tutores y boletas</a:t>
            </a:r>
            <a:endParaRPr lang="en-US" sz="2800" dirty="0"/>
          </a:p>
        </p:txBody>
      </p:sp>
      <p:sp>
        <p:nvSpPr>
          <p:cNvPr id="3" name="marco-Tutores: alta, edición y búsqueda por tutor, teléfono o alumno."/>
          <p:cNvSpPr/>
          <p:nvPr/>
        </p:nvSpPr>
        <p:spPr>
          <a:xfrm>
            <a:off x="521208" y="1163464"/>
            <a:ext cx="5495544" cy="3113753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Tutores: alta, edición y búsqueda por tutor, teléfono o alumno." descr="Tutores: alta, edición y búsqueda por tutor, teléfono o alumn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90896"/>
            <a:ext cx="5440680" cy="3058889"/>
          </a:xfrm>
          <a:prstGeom prst="rect">
            <a:avLst/>
          </a:prstGeom>
        </p:spPr>
      </p:pic>
      <p:sp>
        <p:nvSpPr>
          <p:cNvPr id="5" name="marco-Boleta: hoja carta lista para imprimir desde el navegador."/>
          <p:cNvSpPr/>
          <p:nvPr/>
        </p:nvSpPr>
        <p:spPr>
          <a:xfrm>
            <a:off x="6172200" y="1163464"/>
            <a:ext cx="5495544" cy="3113753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6" name="Boleta: hoja carta lista para imprimir desde el navegador." descr="Boleta: hoja carta lista para imprimir desde el navegador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190896"/>
            <a:ext cx="5440680" cy="305888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343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Tutores: alta, edición y búsqueda por tutor, teléfono o alumno.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6199632" y="4343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Boleta: hoja carta lista para imprimir desde el navegador.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892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DECISIÓN DE DISEÑO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1663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boleta invierte la paleta (tinta oscura sobre papel) para imprimir sin gastar tóner. Se imprime por alumno o por grupo completo, una hoja por niño.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0972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</a:rPr>
              <a:t>03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78892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Design handoff y desarrollo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1605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UX/UI: assets exportados y especificación técnica.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Técnico: componentes reutilizables y pipeline de CI.</a:t>
            </a:r>
            <a:endParaRPr lang="en-US" sz="1600" dirty="0"/>
          </a:p>
        </p:txBody>
      </p:sp>
      <p:sp>
        <p:nvSpPr>
          <p:cNvPr id="5" name="estado-En proceso"/>
          <p:cNvSpPr txBox="1"/>
          <p:nvPr/>
        </p:nvSpPr>
        <p:spPr>
          <a:xfrm>
            <a:off x="731520" y="5440680"/>
            <a:ext cx="146304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EN PROCESO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Fase 3 · Design handoff y desarrollo</a:t>
            </a:r>
            <a:endParaRPr lang="en-US" sz="2800" dirty="0"/>
          </a:p>
        </p:txBody>
      </p:sp>
      <p:sp>
        <p:nvSpPr>
          <p:cNvPr id="3" name="tarjeta-FLUJO DE DISEÑO"/>
          <p:cNvSpPr/>
          <p:nvPr/>
        </p:nvSpPr>
        <p:spPr>
          <a:xfrm>
            <a:off x="548640" y="1234440"/>
            <a:ext cx="5440680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4630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FLUJO DE DISEÑO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737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UX/UI</a:t>
            </a:r>
            <a:endParaRPr lang="en-US" sz="1900" dirty="0"/>
          </a:p>
        </p:txBody>
      </p:sp>
      <p:sp>
        <p:nvSpPr>
          <p:cNvPr id="6" name="estado-Completo"/>
          <p:cNvSpPr txBox="1"/>
          <p:nvPr/>
        </p:nvSpPr>
        <p:spPr>
          <a:xfrm>
            <a:off x="868680" y="2377440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COMPLETO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229514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Tokens de design.html llevados a tailwind.config.js con paleta cerrada</a:t>
            </a:r>
            <a:endParaRPr lang="en-US" sz="1250" dirty="0"/>
          </a:p>
        </p:txBody>
      </p:sp>
      <p:sp>
        <p:nvSpPr>
          <p:cNvPr id="8" name="estado-Completo"/>
          <p:cNvSpPr txBox="1"/>
          <p:nvPr/>
        </p:nvSpPr>
        <p:spPr>
          <a:xfrm>
            <a:off x="868680" y="3136392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COMPLETO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3054096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paleta.js replica los tokens para Chart.js: las gráficas no usan colores sueltos</a:t>
            </a:r>
            <a:endParaRPr lang="en-US" sz="1250" dirty="0"/>
          </a:p>
        </p:txBody>
      </p:sp>
      <p:sp>
        <p:nvSpPr>
          <p:cNvPr id="10" name="estado-Completo"/>
          <p:cNvSpPr txBox="1"/>
          <p:nvPr/>
        </p:nvSpPr>
        <p:spPr>
          <a:xfrm>
            <a:off x="868680" y="3895344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COMPLETO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381304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Especificación en la sección 08: tipografías, tamaños, alturas, breakpoints y focus</a:t>
            </a:r>
            <a:endParaRPr lang="en-US" sz="1250" dirty="0"/>
          </a:p>
        </p:txBody>
      </p:sp>
      <p:sp>
        <p:nvSpPr>
          <p:cNvPr id="12" name="estado-Completo"/>
          <p:cNvSpPr txBox="1"/>
          <p:nvPr/>
        </p:nvSpPr>
        <p:spPr>
          <a:xfrm>
            <a:off x="868680" y="4654296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COMPLETO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45720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Assets: el logo es tipográfico y las fuentes vienen de Google Fonts; no hay imágenes que exportar</a:t>
            </a:r>
            <a:endParaRPr lang="en-US" sz="1250" dirty="0"/>
          </a:p>
        </p:txBody>
      </p:sp>
      <p:sp>
        <p:nvSpPr>
          <p:cNvPr id="14" name="tarjeta-FLUJO DE DESPLIEGUE TÉCNICO"/>
          <p:cNvSpPr/>
          <p:nvPr/>
        </p:nvSpPr>
        <p:spPr>
          <a:xfrm>
            <a:off x="6199632" y="1234440"/>
            <a:ext cx="5440680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19672" y="14630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FLUJO DE DESPLIEGUE TÉCNICO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1737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Ingeniería y DevOps</a:t>
            </a:r>
            <a:endParaRPr lang="en-US" sz="1900" dirty="0"/>
          </a:p>
        </p:txBody>
      </p:sp>
      <p:sp>
        <p:nvSpPr>
          <p:cNvPr id="17" name="estado-Completo"/>
          <p:cNvSpPr txBox="1"/>
          <p:nvPr/>
        </p:nvSpPr>
        <p:spPr>
          <a:xfrm>
            <a:off x="6519672" y="2377440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COMPLETO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799832" y="229514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Clases de componente: .btn-primario, .btn-fantasma, .campo, .chip, .tarjeta, .nota-input</a:t>
            </a:r>
            <a:endParaRPr lang="en-US" sz="1250" dirty="0"/>
          </a:p>
        </p:txBody>
      </p:sp>
      <p:sp>
        <p:nvSpPr>
          <p:cNvPr id="19" name="estado-Completo"/>
          <p:cNvSpPr txBox="1"/>
          <p:nvPr/>
        </p:nvSpPr>
        <p:spPr>
          <a:xfrm>
            <a:off x="6519672" y="3136392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COMPLETO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7799832" y="3054096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Parciales y modales HTMX reutilizables (alumno, tutor y evaluación)</a:t>
            </a:r>
            <a:endParaRPr lang="en-US" sz="1250" dirty="0"/>
          </a:p>
        </p:txBody>
      </p:sp>
      <p:sp>
        <p:nvSpPr>
          <p:cNvPr id="21" name="estado-Completo"/>
          <p:cNvSpPr txBox="1"/>
          <p:nvPr/>
        </p:nvSpPr>
        <p:spPr>
          <a:xfrm>
            <a:off x="6519672" y="3895344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COMPLETO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7799832" y="381304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Permisos reutilizables por rol: solo_administrador, solo_secretaria y solo_entrenador</a:t>
            </a:r>
            <a:endParaRPr lang="en-US" sz="1250" dirty="0"/>
          </a:p>
        </p:txBody>
      </p:sp>
      <p:sp>
        <p:nvSpPr>
          <p:cNvPr id="23" name="estado-Planeado"/>
          <p:cNvSpPr txBox="1"/>
          <p:nvPr/>
        </p:nvSpPr>
        <p:spPr>
          <a:xfrm>
            <a:off x="6519672" y="4654296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PLANEADO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7799832" y="45720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CI en GitHub Actions: check, migraciones, pruebas y build de Tailwind en cada push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Handoff: del token al componente y a la pantalla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1 · TOKEN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tailwind.config.js</a:t>
            </a:r>
            <a:endParaRPr lang="en-US" sz="1300" dirty="0"/>
          </a:p>
        </p:txBody>
      </p:sp>
      <p:sp>
        <p:nvSpPr>
          <p:cNvPr id="5" name="codigo-1"/>
          <p:cNvSpPr txBox="1"/>
          <p:nvPr/>
        </p:nvSpPr>
        <p:spPr>
          <a:xfrm>
            <a:off x="548640" y="2011680"/>
            <a:ext cx="3383280" cy="164592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'accent': '#C6FF00',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// Botón primario, cifra clave,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// fila activa, serie principal</a:t>
            </a:r>
            <a:endParaRPr lang="en-US" sz="1300" dirty="0"/>
          </a:p>
        </p:txBody>
      </p:sp>
      <p:sp>
        <p:nvSpPr>
          <p:cNvPr id="6" name="flecha-1"/>
          <p:cNvSpPr/>
          <p:nvPr/>
        </p:nvSpPr>
        <p:spPr>
          <a:xfrm>
            <a:off x="4023360" y="2633472"/>
            <a:ext cx="274320" cy="4114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8912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2 · COMPONENTE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5727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static/src/input.css</a:t>
            </a:r>
            <a:endParaRPr lang="en-US" sz="1300" dirty="0"/>
          </a:p>
        </p:txBody>
      </p:sp>
      <p:sp>
        <p:nvSpPr>
          <p:cNvPr id="9" name="codigo-2"/>
          <p:cNvSpPr txBox="1"/>
          <p:nvPr/>
        </p:nvSpPr>
        <p:spPr>
          <a:xfrm>
            <a:off x="4389120" y="2011680"/>
            <a:ext cx="3383280" cy="164592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.btn-primario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  @apply h-[52px] rounded-lg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    bg-accent text-bg-base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    font-display italic;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}</a:t>
            </a:r>
            <a:endParaRPr lang="en-US" sz="1300" dirty="0"/>
          </a:p>
        </p:txBody>
      </p:sp>
      <p:sp>
        <p:nvSpPr>
          <p:cNvPr id="10" name="flecha-2"/>
          <p:cNvSpPr/>
          <p:nvPr/>
        </p:nvSpPr>
        <p:spPr>
          <a:xfrm>
            <a:off x="7863840" y="2633472"/>
            <a:ext cx="274320" cy="4114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3 · PANTALLA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5727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templates/escuela/*.html</a:t>
            </a:r>
            <a:endParaRPr lang="en-US" sz="1300" dirty="0"/>
          </a:p>
        </p:txBody>
      </p:sp>
      <p:sp>
        <p:nvSpPr>
          <p:cNvPr id="13" name="codigo-3"/>
          <p:cNvSpPr txBox="1"/>
          <p:nvPr/>
        </p:nvSpPr>
        <p:spPr>
          <a:xfrm>
            <a:off x="8229600" y="2011680"/>
            <a:ext cx="3383280" cy="164592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&lt;button class="btn-primario"&gt;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  GUARDAR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&lt;/button&gt;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148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Regla del proyecto: ningún color hexadecimal en las plantillas; todos salen de los tokens.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Cambiar un token actualiza botones, tablas y gráficas a la vez, y lo evaluado en el diseño es lo mismo que se implementa.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0972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</a:rPr>
              <a:t>04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78892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Pruebas y pre-despliegue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1605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UX/UI: Design QA.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Técnico: staging con previews automáticos, Lighthouse y pruebas E2E.</a:t>
            </a:r>
            <a:endParaRPr lang="en-US" sz="1600" dirty="0"/>
          </a:p>
        </p:txBody>
      </p:sp>
      <p:sp>
        <p:nvSpPr>
          <p:cNvPr id="5" name="estado-Pendiente"/>
          <p:cNvSpPr txBox="1"/>
          <p:nvPr/>
        </p:nvSpPr>
        <p:spPr>
          <a:xfrm>
            <a:off x="731520" y="5440680"/>
            <a:ext cx="146304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PENDIENTE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Fase 4 · Pruebas y pre-despliegue</a:t>
            </a:r>
            <a:endParaRPr lang="en-US" sz="2800" dirty="0"/>
          </a:p>
        </p:txBody>
      </p:sp>
      <p:sp>
        <p:nvSpPr>
          <p:cNvPr id="3" name="tarjeta-FLUJO DE DISEÑO"/>
          <p:cNvSpPr/>
          <p:nvPr/>
        </p:nvSpPr>
        <p:spPr>
          <a:xfrm>
            <a:off x="548640" y="1234440"/>
            <a:ext cx="5440680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4630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FLUJO DE DISEÑO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737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UX/UI</a:t>
            </a:r>
            <a:endParaRPr lang="en-US" sz="1900" dirty="0"/>
          </a:p>
        </p:txBody>
      </p:sp>
      <p:sp>
        <p:nvSpPr>
          <p:cNvPr id="6" name="estado-En proceso"/>
          <p:cNvSpPr txBox="1"/>
          <p:nvPr/>
        </p:nvSpPr>
        <p:spPr>
          <a:xfrm>
            <a:off x="868680" y="2377440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EN PROCESO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229514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Contraste documentado en el design system: 14.6:1, 6.4:1 y 15.9:1 (WCAG AA)</a:t>
            </a:r>
            <a:endParaRPr lang="en-US" sz="1250" dirty="0"/>
          </a:p>
        </p:txBody>
      </p:sp>
      <p:sp>
        <p:nvSpPr>
          <p:cNvPr id="8" name="estado-Planeado"/>
          <p:cNvSpPr txBox="1"/>
          <p:nvPr/>
        </p:nvSpPr>
        <p:spPr>
          <a:xfrm>
            <a:off x="868680" y="3136392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PLANEADO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3054096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Design QA contra design.html a 360, 768 y 1280 px con capturas de Playwright</a:t>
            </a:r>
            <a:endParaRPr lang="en-US" sz="1250" dirty="0"/>
          </a:p>
        </p:txBody>
      </p:sp>
      <p:sp>
        <p:nvSpPr>
          <p:cNvPr id="10" name="estado-Planeado"/>
          <p:cNvSpPr txBox="1"/>
          <p:nvPr/>
        </p:nvSpPr>
        <p:spPr>
          <a:xfrm>
            <a:off x="868680" y="3895344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PLANEADO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381304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Evaluación heurística 1 sobre wireframes (S5) y 2 sobre el prototipo (S8)</a:t>
            </a:r>
            <a:endParaRPr lang="en-US" sz="1250" dirty="0"/>
          </a:p>
        </p:txBody>
      </p:sp>
      <p:sp>
        <p:nvSpPr>
          <p:cNvPr id="12" name="estado-Planeado"/>
          <p:cNvSpPr txBox="1"/>
          <p:nvPr/>
        </p:nvSpPr>
        <p:spPr>
          <a:xfrm>
            <a:off x="868680" y="4654296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PLANEADO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45720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Pruebas con 10 usuarios, pensamiento en voz alta y cuestionario SUS (S10)</a:t>
            </a:r>
            <a:endParaRPr lang="en-US" sz="1250" dirty="0"/>
          </a:p>
        </p:txBody>
      </p:sp>
      <p:sp>
        <p:nvSpPr>
          <p:cNvPr id="14" name="tarjeta-FLUJO DE DESPLIEGUE TÉCNICO"/>
          <p:cNvSpPr/>
          <p:nvPr/>
        </p:nvSpPr>
        <p:spPr>
          <a:xfrm>
            <a:off x="6199632" y="1234440"/>
            <a:ext cx="5440680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19672" y="14630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FLUJO DE DESPLIEGUE TÉCNICO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1737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Ingeniería y DevOps</a:t>
            </a:r>
            <a:endParaRPr lang="en-US" sz="1900" dirty="0"/>
          </a:p>
        </p:txBody>
      </p:sp>
      <p:sp>
        <p:nvSpPr>
          <p:cNvPr id="17" name="estado-Completo"/>
          <p:cNvSpPr txBox="1"/>
          <p:nvPr/>
        </p:nvSpPr>
        <p:spPr>
          <a:xfrm>
            <a:off x="6519672" y="2377440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COMPLETO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799832" y="229514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34 pruebas automatizadas de dominio, permisos por rol, captura y secretaria</a:t>
            </a:r>
            <a:endParaRPr lang="en-US" sz="1250" dirty="0"/>
          </a:p>
        </p:txBody>
      </p:sp>
      <p:sp>
        <p:nvSpPr>
          <p:cNvPr id="19" name="estado-Planeado"/>
          <p:cNvSpPr txBox="1"/>
          <p:nvPr/>
        </p:nvSpPr>
        <p:spPr>
          <a:xfrm>
            <a:off x="6519672" y="3136392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PLANEADO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7799832" y="3054096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Previews por pull request con Render Preview Environments</a:t>
            </a:r>
            <a:endParaRPr lang="en-US" sz="1250" dirty="0"/>
          </a:p>
        </p:txBody>
      </p:sp>
      <p:sp>
        <p:nvSpPr>
          <p:cNvPr id="21" name="estado-Planeado"/>
          <p:cNvSpPr txBox="1"/>
          <p:nvPr/>
        </p:nvSpPr>
        <p:spPr>
          <a:xfrm>
            <a:off x="6519672" y="3895344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PLANEADO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7799832" y="381304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Lighthouse CI: carga en menos de 3 s en 4G simulada (RNF-03)</a:t>
            </a:r>
            <a:endParaRPr lang="en-US" sz="1250" dirty="0"/>
          </a:p>
        </p:txBody>
      </p:sp>
      <p:sp>
        <p:nvSpPr>
          <p:cNvPr id="23" name="estado-Planeado"/>
          <p:cNvSpPr txBox="1"/>
          <p:nvPr/>
        </p:nvSpPr>
        <p:spPr>
          <a:xfrm>
            <a:off x="6519672" y="4654296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PLANEADO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7799832" y="45720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E2E con Playwright: el recorrido de estas capturas pasa a ser una suite en el repo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Lo que ya se prueba: 34 pruebas automatizadas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</a:rPr>
              <a:t>34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pruebas con python manage.py test, todas en verde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Aún no corren solas: el siguiente paso es ejecutarlas en GitHub Actions en cada push.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206240" y="1234440"/>
          <a:ext cx="74066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0972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chemeClr val="accent1"/>
                </a:solidFill>
              </a:rPr>
              <a:t>05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78892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Producción y monitoreo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1605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UX/UI: analítica de uso e iteración.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Técnico: CD a producción y monitoreo de errores.</a:t>
            </a:r>
            <a:endParaRPr lang="en-US" sz="1600" dirty="0"/>
          </a:p>
        </p:txBody>
      </p:sp>
      <p:sp>
        <p:nvSpPr>
          <p:cNvPr id="5" name="estado-Pendiente"/>
          <p:cNvSpPr txBox="1"/>
          <p:nvPr/>
        </p:nvSpPr>
        <p:spPr>
          <a:xfrm>
            <a:off x="731520" y="5440680"/>
            <a:ext cx="146304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PENDIENTE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Fase 5 · Producción y monitoreo</a:t>
            </a:r>
            <a:endParaRPr lang="en-US" sz="2800" dirty="0"/>
          </a:p>
        </p:txBody>
      </p:sp>
      <p:sp>
        <p:nvSpPr>
          <p:cNvPr id="3" name="tarjeta-FLUJO DE DISEÑO"/>
          <p:cNvSpPr/>
          <p:nvPr/>
        </p:nvSpPr>
        <p:spPr>
          <a:xfrm>
            <a:off x="548640" y="1234440"/>
            <a:ext cx="5440680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4630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FLUJO DE DISEÑO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737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UX/UI</a:t>
            </a:r>
            <a:endParaRPr lang="en-US" sz="1900" dirty="0"/>
          </a:p>
        </p:txBody>
      </p:sp>
      <p:sp>
        <p:nvSpPr>
          <p:cNvPr id="6" name="estado-Planeado"/>
          <p:cNvSpPr txBox="1"/>
          <p:nvPr/>
        </p:nvSpPr>
        <p:spPr>
          <a:xfrm>
            <a:off x="868680" y="2377440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PLANEADO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229514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Analítica de uso con Plausible: sin cookies, adecuada al manejar datos de menores</a:t>
            </a:r>
            <a:endParaRPr lang="en-US" sz="1250" dirty="0"/>
          </a:p>
        </p:txBody>
      </p:sp>
      <p:sp>
        <p:nvSpPr>
          <p:cNvPr id="8" name="estado-Planeado"/>
          <p:cNvSpPr txBox="1"/>
          <p:nvPr/>
        </p:nvSpPr>
        <p:spPr>
          <a:xfrm>
            <a:off x="868680" y="3136392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PLANEADO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3054096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Medir las metas de la propuesta: 20 s o menos por alumno, 90 % de éxito y SUS de 75 o más</a:t>
            </a:r>
            <a:endParaRPr lang="en-US" sz="1250" dirty="0"/>
          </a:p>
        </p:txBody>
      </p:sp>
      <p:sp>
        <p:nvSpPr>
          <p:cNvPr id="10" name="estado-Planeado"/>
          <p:cNvSpPr txBox="1"/>
          <p:nvPr/>
        </p:nvSpPr>
        <p:spPr>
          <a:xfrm>
            <a:off x="868680" y="3895344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PLANEADO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381304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Iterar hasta no dejar problemas de severidad 3 o 4 sin resolver (OE7)</a:t>
            </a:r>
            <a:endParaRPr lang="en-US" sz="1250" dirty="0"/>
          </a:p>
        </p:txBody>
      </p:sp>
      <p:sp>
        <p:nvSpPr>
          <p:cNvPr id="12" name="tarjeta-FLUJO DE DESPLIEGUE TÉCNICO"/>
          <p:cNvSpPr/>
          <p:nvPr/>
        </p:nvSpPr>
        <p:spPr>
          <a:xfrm>
            <a:off x="6199632" y="1234440"/>
            <a:ext cx="5440680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9672" y="14630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FLUJO DE DESPLIEGUE TÉCNICO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1737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Ingeniería y DevOps</a:t>
            </a:r>
            <a:endParaRPr lang="en-US" sz="1900" dirty="0"/>
          </a:p>
        </p:txBody>
      </p:sp>
      <p:sp>
        <p:nvSpPr>
          <p:cNvPr id="15" name="estado-Completo"/>
          <p:cNvSpPr txBox="1"/>
          <p:nvPr/>
        </p:nvSpPr>
        <p:spPr>
          <a:xfrm>
            <a:off x="6519672" y="2377440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COMPLETO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7799832" y="229514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Base para producción: Gunicorn, WhiteNoise y configuración por variables de entorno</a:t>
            </a:r>
            <a:endParaRPr lang="en-US" sz="1250" dirty="0"/>
          </a:p>
        </p:txBody>
      </p:sp>
      <p:sp>
        <p:nvSpPr>
          <p:cNvPr id="17" name="estado-Planeado"/>
          <p:cNvSpPr txBox="1"/>
          <p:nvPr/>
        </p:nvSpPr>
        <p:spPr>
          <a:xfrm>
            <a:off x="6519672" y="3136392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PLANEADO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799832" y="3054096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CD: GitHub Actions despliega en Render cuando main pasa las pruebas</a:t>
            </a:r>
            <a:endParaRPr lang="en-US" sz="1250" dirty="0"/>
          </a:p>
        </p:txBody>
      </p:sp>
      <p:sp>
        <p:nvSpPr>
          <p:cNvPr id="19" name="estado-Planeado"/>
          <p:cNvSpPr txBox="1"/>
          <p:nvPr/>
        </p:nvSpPr>
        <p:spPr>
          <a:xfrm>
            <a:off x="6519672" y="3895344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PLANEADO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7799832" y="381304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Monitoreo de errores con Sentry (sentry-sdk para Django)</a:t>
            </a:r>
            <a:endParaRPr lang="en-US" sz="1250" dirty="0"/>
          </a:p>
        </p:txBody>
      </p:sp>
      <p:sp>
        <p:nvSpPr>
          <p:cNvPr id="21" name="estado-Planeado"/>
          <p:cNvSpPr txBox="1"/>
          <p:nvPr/>
        </p:nvSpPr>
        <p:spPr>
          <a:xfrm>
            <a:off x="6519672" y="4654296"/>
            <a:ext cx="10972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chemeClr val="bg1"/>
                </a:solidFill>
              </a:rPr>
              <a:t>PLANEADO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7799832" y="45720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Health check de Render y alertas en horarios de entrenamiento (RNF-04)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Siguientes pasos</a:t>
            </a:r>
            <a:endParaRPr lang="en-US" sz="2800" dirty="0"/>
          </a:p>
        </p:txBody>
      </p:sp>
      <p:sp>
        <p:nvSpPr>
          <p:cNvPr id="3" name="linea-tiempo"/>
          <p:cNvSpPr/>
          <p:nvPr/>
        </p:nvSpPr>
        <p:spPr>
          <a:xfrm>
            <a:off x="2103120" y="1783080"/>
            <a:ext cx="95097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3774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Diseño (UX/UI)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Técnico</a:t>
            </a:r>
            <a:endParaRPr lang="en-US" sz="1300" dirty="0"/>
          </a:p>
        </p:txBody>
      </p:sp>
      <p:sp>
        <p:nvSpPr>
          <p:cNvPr id="6" name="hito-S5"/>
          <p:cNvSpPr/>
          <p:nvPr/>
        </p:nvSpPr>
        <p:spPr>
          <a:xfrm>
            <a:off x="2898648" y="166420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0312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S5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19 oct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2377440"/>
            <a:ext cx="1828800" cy="12801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Mapa de empatía, wireframes y heurística 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3931920"/>
            <a:ext cx="1828800" cy="12801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PostgreSQL y .env.example</a:t>
            </a:r>
            <a:endParaRPr lang="en-US" sz="1200" dirty="0"/>
          </a:p>
        </p:txBody>
      </p:sp>
      <p:sp>
        <p:nvSpPr>
          <p:cNvPr id="10" name="hito-S6"/>
          <p:cNvSpPr/>
          <p:nvPr/>
        </p:nvSpPr>
        <p:spPr>
          <a:xfrm>
            <a:off x="4818888" y="166420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2336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S6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26 oct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377440"/>
            <a:ext cx="1828800" cy="12801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Guía visual con las pantallas de secretaria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3931920"/>
            <a:ext cx="1828800" cy="12801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CI en GitHub Actions y staging en Render</a:t>
            </a:r>
            <a:endParaRPr lang="en-US" sz="1200" dirty="0"/>
          </a:p>
        </p:txBody>
      </p:sp>
      <p:sp>
        <p:nvSpPr>
          <p:cNvPr id="14" name="hito-S7–S8"/>
          <p:cNvSpPr/>
          <p:nvPr/>
        </p:nvSpPr>
        <p:spPr>
          <a:xfrm>
            <a:off x="6739128" y="166420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S7–S8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2–9 nov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2377440"/>
            <a:ext cx="1828800" cy="12801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Prototipo en Figma y heurística 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3931920"/>
            <a:ext cx="1828800" cy="12801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Captura sin conexión (RF-06)</a:t>
            </a:r>
            <a:endParaRPr lang="en-US" sz="1200" dirty="0"/>
          </a:p>
        </p:txBody>
      </p:sp>
      <p:sp>
        <p:nvSpPr>
          <p:cNvPr id="18" name="hito-S9–S10"/>
          <p:cNvSpPr/>
          <p:nvPr/>
        </p:nvSpPr>
        <p:spPr>
          <a:xfrm>
            <a:off x="8659368" y="166420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S9–S10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16–23 nov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2377440"/>
            <a:ext cx="1828800" cy="12801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Pruebas con 10 usuarios y SUS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931920"/>
            <a:ext cx="1828800" cy="12801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E2E con Playwright y Lighthouse CI</a:t>
            </a:r>
            <a:endParaRPr lang="en-US" sz="1200" dirty="0"/>
          </a:p>
        </p:txBody>
      </p:sp>
      <p:sp>
        <p:nvSpPr>
          <p:cNvPr id="22" name="hito-S11–S12"/>
          <p:cNvSpPr/>
          <p:nvPr/>
        </p:nvSpPr>
        <p:spPr>
          <a:xfrm>
            <a:off x="10579608" y="166420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78408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S11–S12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30 nov–7 dic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784080" y="2377440"/>
            <a:ext cx="1828800" cy="12801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Iteración y reporte final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784080" y="3931920"/>
            <a:ext cx="1828800" cy="12801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CD a producción y Sentry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5778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</a:rPr>
              <a:t>Semanas del cronograma de la propuesta (Figura 3).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1737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Base funcional sólida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2331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Los requerimientos Must centrales funcionan de punta a punta y están cubiertos por 34 pruebas.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737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086600" y="1737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Diseño y código alineados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2331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El design system pasó al código sin pérdidas: los colores solo existen como tokens.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7947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7947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El rezago es de despliegue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43891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PostgreSQL, CI/CD, staging y monitoreo concentran el trabajo técnico que falta.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7947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04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37947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Falta la voz del usuario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43891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El mapa de empatía, los wireframes y las pruebas con usuarios cerrarán el flujo de UX.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VA SOCCER Avance">
  <a:themeElements>
    <a:clrScheme name="VIVA SOCCER Avance">
      <a:dk1>
        <a:srgbClr val="1F1B16"/>
      </a:dk1>
      <a:lt1>
        <a:srgbClr val="FFFFFF"/>
      </a:lt1>
      <a:dk2>
        <a:srgbClr val="5E574C"/>
      </a:dk2>
      <a:lt2>
        <a:srgbClr val="F5F1EA"/>
      </a:lt2>
      <a:accent1>
        <a:srgbClr val="A67C2E"/>
      </a:accent1>
      <a:accent2>
        <a:srgbClr val="2F6F4E"/>
      </a:accent2>
      <a:accent3>
        <a:srgbClr val="9A5F0A"/>
      </a:accent3>
      <a:accent4>
        <a:srgbClr val="A33A30"/>
      </a:accent4>
      <a:accent5>
        <a:srgbClr val="7B2FF7"/>
      </a:accent5>
      <a:accent6>
        <a:srgbClr val="D9CDB4"/>
      </a:accent6>
      <a:hlink>
        <a:srgbClr val="A67C2E"/>
      </a:hlink>
      <a:folHlink>
        <a:srgbClr val="5E574C"/>
      </a:folHlink>
    </a:clrScheme>
    <a:fontScheme name="VIVA SOCCER Avance">
      <a:majorFont>
        <a:latin typeface="Palatino Linoty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alatino Linoty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Segundo Avance del Proyecto Final — VIVA SOCCER</dc:title>
  <dc:subject>PptxGenJS Presentation</dc:subject>
  <dc:creator>Bustillos Ortiz, Contreras Barajas, Jiménez Salazar</dc:creator>
  <cp:lastModifiedBy>Bustillos Ortiz, Contreras Barajas, Jiménez Salazar</cp:lastModifiedBy>
  <cp:revision>1</cp:revision>
  <dcterms:created xsi:type="dcterms:W3CDTF">2026-10-15T00:37:36Z</dcterms:created>
  <dcterms:modified xsi:type="dcterms:W3CDTF">2026-10-15T00:37:36Z</dcterms:modified>
</cp:coreProperties>
</file>